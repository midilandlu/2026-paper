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2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4"/>
    <p:sldId id="257" r:id="rId3"/>
    <p:sldId id="258" r:id="rId2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7.svg"/><Relationship Id="rId4" Type="http://schemas.openxmlformats.org/officeDocument/2006/relationships/image" Target="../media/image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8AFD3D0A-58C9-83AC-8C45-69F611EB2B5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011"/>
            <a:ext cx="12192000" cy="685597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9352" y="1766806"/>
            <a:ext cx="4579200" cy="1743156"/>
          </a:xfrm>
        </p:spPr>
        <p:txBody>
          <a:bodyPr lIns="0" rIns="0"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9352" y="3602037"/>
            <a:ext cx="4579200" cy="654979"/>
          </a:xfrm>
        </p:spPr>
        <p:txBody>
          <a:bodyPr lIns="0" rIns="0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>
              <a:buNone/>
            </a:pPr>
            <a:r>
              <a:rPr lang="en-US" altLang="zh-TW" b="1" spc="0" dirty="0"/>
              <a:t>Excellence, Empowerment, Accountability, Risk-taking</a:t>
            </a:r>
          </a:p>
        </p:txBody>
      </p:sp>
      <p:sp>
        <p:nvSpPr>
          <p:cNvPr id="7" name="副標題 2">
            <a:extLst>
              <a:ext uri="{FF2B5EF4-FFF2-40B4-BE49-F238E27FC236}">
                <a16:creationId xmlns:a16="http://schemas.microsoft.com/office/drawing/2014/main" id="{AD80011C-2C47-3FAC-AC3D-EBF7AB142923}"/>
              </a:ext>
            </a:extLst>
          </p:cNvPr>
          <p:cNvSpPr txBox="1">
            <a:spLocks/>
          </p:cNvSpPr>
          <p:nvPr/>
        </p:nvSpPr>
        <p:spPr>
          <a:xfrm>
            <a:off x="1410985" y="4959905"/>
            <a:ext cx="5822400" cy="65497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200" dirty="0"/>
              <a:t>RDU_ESD_SID </a:t>
            </a:r>
          </a:p>
          <a:p>
            <a:r>
              <a:rPr lang="en-US" altLang="zh-TW" sz="1200" dirty="0"/>
              <a:t>Mage Lu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905666594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  <a:lvl2pPr marL="449263" indent="-271463">
              <a:defRPr>
                <a:latin typeface="+mn-lt"/>
                <a:ea typeface="+mn-ea"/>
              </a:defRPr>
            </a:lvl2pPr>
            <a:lvl3pPr marL="804863" indent="-263525">
              <a:defRPr>
                <a:latin typeface="+mn-lt"/>
                <a:ea typeface="+mn-ea"/>
              </a:defRPr>
            </a:lvl3pPr>
            <a:lvl4pPr marL="1074738" indent="-177800">
              <a:defRPr>
                <a:latin typeface="+mn-lt"/>
                <a:ea typeface="+mn-ea"/>
              </a:defRPr>
            </a:lvl4pPr>
            <a:lvl5pPr marL="1252538" indent="-177800">
              <a:defRPr>
                <a:latin typeface="+mn-lt"/>
                <a:ea typeface="+mn-ea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B09CD84-AB6A-3748-6838-29FC36F11E0E}"/>
              </a:ext>
            </a:extLst>
          </p:cNvPr>
          <p:cNvSpPr txBox="1">
            <a:spLocks/>
          </p:cNvSpPr>
          <p:nvPr/>
        </p:nvSpPr>
        <p:spPr>
          <a:xfrm>
            <a:off x="11785600" y="6492875"/>
            <a:ext cx="4063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C07629-8982-445A-96A5-0E219A077B6D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F3A7DA5-8095-5B74-3500-1690FCE3FA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84368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CD6108-5653-4DC4-A010-10404808C214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AFD29F5-04CE-9E7B-295F-A6C7071FE0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0459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7163266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E5B77F7-D961-0E13-D75A-40817A22E3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84368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CD6108-5653-4DC4-A010-10404808C214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416EE-2BDB-27ED-58D6-27AAD0A44B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5601" y="6492388"/>
            <a:ext cx="4063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C057D2-1569-46EB-AADD-E73DBA659D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9697108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06400" y="838201"/>
            <a:ext cx="5588000" cy="5287963"/>
          </a:xfrm>
        </p:spPr>
        <p:txBody>
          <a:bodyPr/>
          <a:lstStyle>
            <a:lvl1pPr>
              <a:defRPr sz="2800">
                <a:latin typeface="+mn-lt"/>
                <a:ea typeface="+mn-ea"/>
              </a:defRPr>
            </a:lvl1pPr>
            <a:lvl2pPr>
              <a:defRPr sz="2400">
                <a:latin typeface="+mn-lt"/>
                <a:ea typeface="+mn-ea"/>
              </a:defRPr>
            </a:lvl2pPr>
            <a:lvl3pPr>
              <a:defRPr sz="20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838201"/>
            <a:ext cx="5588000" cy="5287963"/>
          </a:xfrm>
        </p:spPr>
        <p:txBody>
          <a:bodyPr/>
          <a:lstStyle>
            <a:lvl1pPr>
              <a:defRPr sz="2800">
                <a:latin typeface="+mn-lt"/>
                <a:ea typeface="+mn-ea"/>
              </a:defRPr>
            </a:lvl1pPr>
            <a:lvl2pPr>
              <a:defRPr sz="2400">
                <a:latin typeface="+mn-lt"/>
                <a:ea typeface="+mn-ea"/>
              </a:defRPr>
            </a:lvl2pPr>
            <a:lvl3pPr>
              <a:defRPr sz="20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00523C3-11DD-E8F1-269C-D4B81F646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4368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CD6108-5653-4DC4-A010-10404808C214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FD9B678-911B-F7E0-B894-CA27395D98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5600" y="6486524"/>
            <a:ext cx="4063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C057D2-1569-46EB-AADD-E73DBA659D3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D26F47B-FEB4-D3E2-9BA9-F7DCE32965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0459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4718503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+mn-lt"/>
                <a:ea typeface="+mn-ea"/>
              </a:defRPr>
            </a:lvl1pPr>
            <a:lvl2pPr>
              <a:defRPr sz="20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600">
                <a:latin typeface="+mn-lt"/>
                <a:ea typeface="+mn-ea"/>
              </a:defRPr>
            </a:lvl4pPr>
            <a:lvl5pPr>
              <a:defRPr sz="1600">
                <a:latin typeface="+mn-lt"/>
                <a:ea typeface="+mn-ea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latin typeface="+mn-lt"/>
                <a:ea typeface="+mn-ea"/>
              </a:defRPr>
            </a:lvl1pPr>
            <a:lvl2pPr>
              <a:defRPr sz="20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600">
                <a:latin typeface="+mn-lt"/>
                <a:ea typeface="+mn-ea"/>
              </a:defRPr>
            </a:lvl4pPr>
            <a:lvl5pPr>
              <a:defRPr sz="1600">
                <a:latin typeface="+mn-lt"/>
                <a:ea typeface="+mn-ea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5CA144D-5956-1F71-910C-70C6F96F9D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4368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CD6108-5653-4DC4-A010-10404808C214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7559DA7-C51C-7504-B622-18093FF3B4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785601" y="6492875"/>
            <a:ext cx="4063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C057D2-1569-46EB-AADD-E73DBA659D3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5E5C0D-3278-6CA3-4B3B-1D6D145A00B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50459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5475211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E7545-E2B1-3BB5-66B8-043CC73E0A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84368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CD6108-5653-4DC4-A010-10404808C214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6D72566-4FA9-0B41-5CB0-F9880EFA7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5601" y="6492875"/>
            <a:ext cx="4063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C057D2-1569-46EB-AADD-E73DBA659D3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5ABBA5E-D1BA-E83D-A103-AB97F0E448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0459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3520247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3965296-9440-5190-FBDE-5B6FD13416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84368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CD6108-5653-4DC4-A010-10404808C214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50F067F-5491-DD1F-B778-00D6A76A4D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5601" y="6492875"/>
            <a:ext cx="4063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C057D2-1569-46EB-AADD-E73DBA659D3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4D99C-C8AC-1AA1-91BB-38EE4D2A04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0459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8010824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latin typeface="+mn-lt"/>
                <a:ea typeface="+mn-ea"/>
              </a:defRPr>
            </a:lvl1pPr>
            <a:lvl2pPr>
              <a:defRPr sz="2800">
                <a:latin typeface="+mn-lt"/>
                <a:ea typeface="+mn-ea"/>
              </a:defRPr>
            </a:lvl2pPr>
            <a:lvl3pPr>
              <a:defRPr sz="2400">
                <a:latin typeface="+mn-lt"/>
                <a:ea typeface="+mn-ea"/>
              </a:defRPr>
            </a:lvl3pPr>
            <a:lvl4pPr>
              <a:defRPr sz="2000">
                <a:latin typeface="+mn-lt"/>
                <a:ea typeface="+mn-ea"/>
              </a:defRPr>
            </a:lvl4pPr>
            <a:lvl5pPr>
              <a:defRPr sz="2000">
                <a:latin typeface="+mn-lt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66EF90B-18A2-CAD7-A7F8-04651FDEDC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4368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CD6108-5653-4DC4-A010-10404808C214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F06E20-67EA-9C43-1E33-4B9C8B49D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5601" y="6492875"/>
            <a:ext cx="4063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C057D2-1569-46EB-AADD-E73DBA659D3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0857E8C-9262-6408-411B-1E3288DCB4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0459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3258242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EE0CF26-7C48-F98E-FD05-4CB5D778E7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4368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CD6108-5653-4DC4-A010-10404808C214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C4EA174-806D-73E1-5EE2-496F31B2D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5601" y="6492875"/>
            <a:ext cx="4063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C057D2-1569-46EB-AADD-E73DBA659D3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82A17F1-AE9B-DE7C-6850-B8FE984641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0459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880887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+mn-lt"/>
                <a:ea typeface="+mn-ea"/>
              </a:defRPr>
            </a:lvl1pPr>
            <a:lvl2pPr>
              <a:defRPr>
                <a:latin typeface="+mn-lt"/>
                <a:ea typeface="+mn-ea"/>
              </a:defRPr>
            </a:lvl2pPr>
            <a:lvl3pPr>
              <a:defRPr>
                <a:latin typeface="+mn-lt"/>
                <a:ea typeface="+mn-ea"/>
              </a:defRPr>
            </a:lvl3pPr>
            <a:lvl4pPr>
              <a:defRPr>
                <a:latin typeface="+mn-lt"/>
                <a:ea typeface="+mn-ea"/>
              </a:defRPr>
            </a:lvl4pPr>
            <a:lvl5pPr>
              <a:defRPr>
                <a:latin typeface="+mn-lt"/>
                <a:ea typeface="+mn-ea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F7539BD-A76D-ABCF-BD40-B99700329F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84368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CD6108-5653-4DC4-A010-10404808C214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7DFCB-47F2-E046-177E-5660201F76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5601" y="6492875"/>
            <a:ext cx="4063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C057D2-1569-46EB-AADD-E73DBA659D3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F27C664-07FC-8E6E-6E62-3F47B30ED8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0459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9598725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40800" y="188913"/>
            <a:ext cx="2844800" cy="593725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06400" y="188913"/>
            <a:ext cx="8331200" cy="5937250"/>
          </a:xfrm>
        </p:spPr>
        <p:txBody>
          <a:bodyPr vert="eaVert"/>
          <a:lstStyle>
            <a:lvl1pPr>
              <a:defRPr>
                <a:latin typeface="+mn-lt"/>
                <a:ea typeface="+mn-ea"/>
              </a:defRPr>
            </a:lvl1pPr>
            <a:lvl2pPr>
              <a:defRPr>
                <a:latin typeface="+mn-lt"/>
                <a:ea typeface="+mn-ea"/>
              </a:defRPr>
            </a:lvl2pPr>
            <a:lvl3pPr>
              <a:defRPr>
                <a:latin typeface="+mn-lt"/>
                <a:ea typeface="+mn-ea"/>
              </a:defRPr>
            </a:lvl3pPr>
            <a:lvl4pPr>
              <a:defRPr>
                <a:latin typeface="+mn-lt"/>
                <a:ea typeface="+mn-ea"/>
              </a:defRPr>
            </a:lvl4pPr>
            <a:lvl5pPr>
              <a:defRPr>
                <a:latin typeface="+mn-lt"/>
                <a:ea typeface="+mn-ea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534FD47-0E03-CE5B-192D-9453EF954C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84368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CD6108-5653-4DC4-A010-10404808C214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9385B-C88D-F0BA-FBAE-1348E8152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5600" y="6492875"/>
            <a:ext cx="4063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C057D2-1569-46EB-AADD-E73DBA659D3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76A4583-384C-214B-3F92-18E687E5D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0459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7114646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533400"/>
            <a:ext cx="10363200" cy="59213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914400" y="1268414"/>
            <a:ext cx="5080000" cy="4827587"/>
          </a:xfrm>
        </p:spPr>
        <p:txBody>
          <a:bodyPr/>
          <a:lstStyle>
            <a:lvl1pPr>
              <a:defRPr>
                <a:latin typeface="+mn-lt"/>
                <a:ea typeface="+mn-ea"/>
              </a:defRPr>
            </a:lvl1pPr>
            <a:lvl2pPr>
              <a:defRPr>
                <a:latin typeface="+mn-lt"/>
                <a:ea typeface="+mn-ea"/>
              </a:defRPr>
            </a:lvl2pPr>
            <a:lvl3pPr>
              <a:defRPr>
                <a:latin typeface="+mn-lt"/>
                <a:ea typeface="+mn-ea"/>
              </a:defRPr>
            </a:lvl3pPr>
            <a:lvl4pPr>
              <a:defRPr>
                <a:latin typeface="+mn-lt"/>
                <a:ea typeface="+mn-ea"/>
              </a:defRPr>
            </a:lvl4pPr>
            <a:lvl5pPr>
              <a:defRPr>
                <a:latin typeface="+mn-lt"/>
                <a:ea typeface="+mn-ea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268414"/>
            <a:ext cx="5080000" cy="4827587"/>
          </a:xfrm>
        </p:spPr>
        <p:txBody>
          <a:bodyPr/>
          <a:lstStyle>
            <a:lvl1pPr>
              <a:defRPr>
                <a:latin typeface="+mn-lt"/>
                <a:ea typeface="+mn-ea"/>
              </a:defRPr>
            </a:lvl1pPr>
            <a:lvl2pPr>
              <a:defRPr>
                <a:latin typeface="+mn-lt"/>
                <a:ea typeface="+mn-ea"/>
              </a:defRPr>
            </a:lvl2pPr>
            <a:lvl3pPr>
              <a:defRPr>
                <a:latin typeface="+mn-lt"/>
                <a:ea typeface="+mn-ea"/>
              </a:defRPr>
            </a:lvl3pPr>
            <a:lvl4pPr>
              <a:defRPr>
                <a:latin typeface="+mn-lt"/>
                <a:ea typeface="+mn-ea"/>
              </a:defRPr>
            </a:lvl4pPr>
            <a:lvl5pPr>
              <a:defRPr>
                <a:latin typeface="+mn-lt"/>
                <a:ea typeface="+mn-ea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7A5AA5A-C26C-F8D1-BD1E-F4E8AFCAF1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4368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CD6108-5653-4DC4-A010-10404808C214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FE129A0-284F-4889-5B66-9966260D3B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" y="5811839"/>
            <a:ext cx="4063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C057D2-1569-46EB-AADD-E73DBA659D3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230DD19-0755-60A9-363C-E5E9707CD5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0459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6755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" y="5811839"/>
            <a:ext cx="406399" cy="365125"/>
          </a:xfrm>
          <a:prstGeom prst="rect">
            <a:avLst/>
          </a:prstGeom>
        </p:spPr>
        <p:txBody>
          <a:bodyPr/>
          <a:lstStyle/>
          <a:p>
            <a:fld id="{BEC057D2-1569-46EB-AADD-E73DBA659D3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457ACEDC-3441-C689-CBBB-016E2D574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8177" y="2405969"/>
            <a:ext cx="4131352" cy="1183459"/>
          </a:xfrm>
        </p:spPr>
        <p:txBody>
          <a:bodyPr>
            <a:noAutofit/>
          </a:bodyPr>
          <a:lstStyle>
            <a:lvl1pPr>
              <a:defRPr sz="400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TW" dirty="0"/>
              <a:t>THANK</a:t>
            </a:r>
            <a:r>
              <a:rPr lang="en-US" dirty="0"/>
              <a:t> </a:t>
            </a:r>
            <a:br>
              <a:rPr lang="en-TW" dirty="0"/>
            </a:br>
            <a:r>
              <a:rPr lang="en-TW" dirty="0"/>
              <a:t>YOU!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2057941-EA08-8A2A-8383-69AA04E65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88177" y="3687733"/>
            <a:ext cx="4131352" cy="3020252"/>
          </a:xfrm>
        </p:spPr>
        <p:txBody>
          <a:bodyPr>
            <a:normAutofit/>
          </a:bodyPr>
          <a:lstStyle>
            <a:lvl1pPr>
              <a:defRPr sz="1867"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pic>
        <p:nvPicPr>
          <p:cNvPr id="10" name="圖片 9" descr="一張含有 文字, 報紙, 正在列印, 字型 的圖片&#10;&#10;AI 產生的內容可能不正確。">
            <a:extLst>
              <a:ext uri="{FF2B5EF4-FFF2-40B4-BE49-F238E27FC236}">
                <a16:creationId xmlns:a16="http://schemas.microsoft.com/office/drawing/2014/main" id="{984B99AA-EE7F-9406-819C-7B60E52C5E2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13801" y="-1083000"/>
            <a:ext cx="9024000" cy="90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852514"/>
      </p:ext>
    </p:extLst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5">
            <a:extLst>
              <a:ext uri="{FF2B5EF4-FFF2-40B4-BE49-F238E27FC236}">
                <a16:creationId xmlns:a16="http://schemas.microsoft.com/office/drawing/2014/main" id="{699BC420-E63F-D8B7-E95A-EA1FEEC6E678}"/>
              </a:ext>
            </a:extLst>
          </p:cNvPr>
          <p:cNvSpPr txBox="1">
            <a:spLocks/>
          </p:cNvSpPr>
          <p:nvPr/>
        </p:nvSpPr>
        <p:spPr>
          <a:xfrm>
            <a:off x="6085668" y="912039"/>
            <a:ext cx="4320000" cy="97536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i="0" kern="1200" spc="80" baseline="0" dirty="0">
                <a:solidFill>
                  <a:schemeClr val="tx1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TW" sz="3200" b="0" i="0" u="none" strike="noStrike" kern="1200" cap="none" spc="107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rPr>
              <a:t>AGENDA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58C23CA-4EA3-CBC9-9EC5-C3152EEB04E8}"/>
              </a:ext>
            </a:extLst>
          </p:cNvPr>
          <p:cNvSpPr txBox="1">
            <a:spLocks/>
          </p:cNvSpPr>
          <p:nvPr/>
        </p:nvSpPr>
        <p:spPr>
          <a:xfrm>
            <a:off x="6085668" y="241186"/>
            <a:ext cx="4320000" cy="563436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n-US" sz="800" b="0" kern="1200" spc="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5143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 spc="40" baseline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8572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 spc="40" baseline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2001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 spc="30" baseline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5430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 spc="30" baseline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TW" sz="1067" b="0" i="0" u="none" strike="noStrike" kern="1200" cap="none" spc="0" normalizeH="0" baseline="0" noProof="0" dirty="0">
              <a:ln>
                <a:noFill/>
              </a:ln>
              <a:solidFill>
                <a:srgbClr val="4B4B4B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42954AFA-DB84-8BC1-A6FE-AD1B6186B798}"/>
              </a:ext>
            </a:extLst>
          </p:cNvPr>
          <p:cNvSpPr txBox="1">
            <a:spLocks/>
          </p:cNvSpPr>
          <p:nvPr/>
        </p:nvSpPr>
        <p:spPr>
          <a:xfrm>
            <a:off x="6085668" y="1994816"/>
            <a:ext cx="4320000" cy="45219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b="1" i="0" kern="1200" spc="50" baseline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180975" indent="-17780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Font typeface="Courier New" panose="02070309020205020404" pitchFamily="49" charset="0"/>
              <a:buChar char="o"/>
              <a:tabLst/>
              <a:defRPr sz="1400" kern="1200" spc="40" baseline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358775" indent="-17780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tabLst/>
              <a:defRPr sz="1200" kern="1200" spc="40" baseline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536575" indent="-17780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tabLst/>
              <a:defRPr sz="1000" kern="1200" spc="30" baseline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714375" indent="-17780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tabLst/>
              <a:defRPr sz="1000" kern="1200" spc="30" baseline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20000"/>
              </a:lnSpc>
              <a:spcBef>
                <a:spcPts val="400"/>
              </a:spcBef>
              <a:spcAft>
                <a:spcPts val="800"/>
              </a:spcAft>
              <a:buClr>
                <a:srgbClr val="FFFFFF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kumimoji="0" lang="en-US" sz="1867" b="1" i="0" u="none" strike="noStrike" kern="1200" cap="none" spc="67" normalizeH="0" baseline="0" noProof="0" dirty="0">
                <a:ln>
                  <a:noFill/>
                </a:ln>
                <a:solidFill>
                  <a:srgbClr val="4B4B4B">
                    <a:lumMod val="7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  <a:sym typeface="Quattrocento Sans"/>
              </a:rPr>
              <a:t>L1 Topic Title</a:t>
            </a:r>
          </a:p>
          <a:p>
            <a:pPr marL="0" marR="0" lvl="0" indent="0" algn="l" defTabSz="914377" rtl="0" eaLnBrk="1" fontAlgn="auto" latinLnBrk="0" hangingPunct="1">
              <a:lnSpc>
                <a:spcPct val="120000"/>
              </a:lnSpc>
              <a:spcBef>
                <a:spcPts val="400"/>
              </a:spcBef>
              <a:spcAft>
                <a:spcPts val="800"/>
              </a:spcAft>
              <a:buClr>
                <a:srgbClr val="FFFFFF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kumimoji="0" lang="en-US" sz="1867" b="1" i="0" u="none" strike="noStrike" kern="1200" cap="none" spc="67" normalizeH="0" baseline="0" noProof="0" dirty="0">
                <a:ln>
                  <a:noFill/>
                </a:ln>
                <a:solidFill>
                  <a:srgbClr val="4B4B4B">
                    <a:lumMod val="7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  <a:sym typeface="Quattrocento Sans"/>
              </a:rPr>
              <a:t>L1 Topic Title</a:t>
            </a:r>
          </a:p>
          <a:p>
            <a:pPr marL="228594" marR="0" lvl="0" indent="-220128" algn="l" defTabSz="914377" rtl="0" eaLnBrk="1" fontAlgn="auto" latinLnBrk="0" hangingPunct="1">
              <a:lnSpc>
                <a:spcPct val="120000"/>
              </a:lnSpc>
              <a:spcBef>
                <a:spcPts val="400"/>
              </a:spcBef>
              <a:spcAft>
                <a:spcPts val="800"/>
              </a:spcAft>
              <a:buClrTx/>
              <a:buSzTx/>
              <a:buFont typeface="Courier New" panose="02070309020205020404" pitchFamily="49" charset="0"/>
              <a:buChar char="o"/>
              <a:tabLst/>
              <a:defRPr sz="1400">
                <a:solidFill>
                  <a:srgbClr val="FFFFFF"/>
                </a:solidFill>
                <a:latin typeface="San Francisco Display Light"/>
                <a:ea typeface="San Francisco Display Light"/>
                <a:cs typeface="San Francisco Display Light"/>
                <a:sym typeface="San Francisco Display Light"/>
              </a:defRPr>
            </a:pPr>
            <a:r>
              <a:rPr kumimoji="0" lang="en-US" sz="1867" b="1" i="0" u="none" strike="noStrike" kern="1200" cap="none" spc="6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anose="020B0502040204020203" pitchFamily="34" charset="0"/>
                <a:ea typeface="San Francisco Display Light"/>
                <a:cs typeface="Segoe UI Semibold" panose="020B0502040204020203" pitchFamily="34" charset="0"/>
                <a:sym typeface="Quattrocento Sans"/>
              </a:rPr>
              <a:t>L2 Topic Title</a:t>
            </a:r>
          </a:p>
          <a:p>
            <a:pPr marL="480472" marR="0" lvl="2" indent="-241294" algn="l" defTabSz="914377" rtl="0" eaLnBrk="1" fontAlgn="auto" latinLnBrk="0" hangingPunct="1">
              <a:lnSpc>
                <a:spcPct val="120000"/>
              </a:lnSpc>
              <a:spcBef>
                <a:spcPts val="4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rgbClr val="FFFFFF"/>
                </a:solidFill>
                <a:latin typeface="San Francisco Display Light"/>
                <a:ea typeface="San Francisco Display Light"/>
                <a:cs typeface="San Francisco Display Light"/>
                <a:sym typeface="San Francisco Display Light"/>
              </a:defRPr>
            </a:pPr>
            <a:r>
              <a:rPr kumimoji="0" lang="en-US" sz="1867" b="0" i="0" u="none" strike="noStrike" kern="1200" cap="none" spc="5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anose="020B0502040204020203" pitchFamily="34" charset="0"/>
                <a:ea typeface="Segoe UI Semilight" charset="0"/>
                <a:cs typeface="Segoe UI Semibold" panose="020B0502040204020203" pitchFamily="34" charset="0"/>
                <a:sym typeface="San Francisco Display Light"/>
              </a:rPr>
              <a:t>L3 Topic Title</a:t>
            </a:r>
          </a:p>
          <a:p>
            <a:pPr marL="8466" marR="0" lvl="2" indent="0" algn="l" defTabSz="914377" rtl="0" eaLnBrk="1" fontAlgn="auto" latinLnBrk="0" hangingPunct="1">
              <a:lnSpc>
                <a:spcPct val="120000"/>
              </a:lnSpc>
              <a:spcBef>
                <a:spcPts val="4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rgbClr val="FFFFFF"/>
                </a:solidFill>
                <a:latin typeface="San Francisco Display Light"/>
                <a:ea typeface="San Francisco Display Light"/>
                <a:cs typeface="San Francisco Display Light"/>
                <a:sym typeface="San Francisco Display Light"/>
              </a:defRPr>
            </a:pPr>
            <a:r>
              <a:rPr kumimoji="0" lang="en-US" sz="1867" b="1" i="0" u="none" strike="noStrike" kern="1200" cap="none" spc="53" normalizeH="0" baseline="0" noProof="0" dirty="0">
                <a:ln>
                  <a:noFill/>
                </a:ln>
                <a:solidFill>
                  <a:srgbClr val="4B4B4B">
                    <a:lumMod val="75000"/>
                  </a:srgbClr>
                </a:solidFill>
                <a:effectLst/>
                <a:uLnTx/>
                <a:uFillTx/>
                <a:latin typeface="San Francisco Display Light"/>
                <a:ea typeface="San Francisco Display Light"/>
                <a:sym typeface="Quattrocento Sans"/>
              </a:rPr>
              <a:t>L1 Topic Title</a:t>
            </a:r>
            <a:endParaRPr kumimoji="0" lang="en-US" sz="1867" b="0" i="0" u="none" strike="noStrike" kern="1200" cap="none" spc="53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 panose="020B0502040204020203" pitchFamily="34" charset="0"/>
              <a:ea typeface="Segoe UI Semilight" charset="0"/>
              <a:cs typeface="Segoe UI Semibold" panose="020B0502040204020203" pitchFamily="34" charset="0"/>
              <a:sym typeface="San Francisco Display Light"/>
            </a:endParaRPr>
          </a:p>
          <a:p>
            <a:pPr marL="228594" marR="0" lvl="0" indent="-220128" algn="l" defTabSz="914377" rtl="0" eaLnBrk="1" fontAlgn="auto" latinLnBrk="0" hangingPunct="1">
              <a:lnSpc>
                <a:spcPct val="120000"/>
              </a:lnSpc>
              <a:spcBef>
                <a:spcPts val="400"/>
              </a:spcBef>
              <a:spcAft>
                <a:spcPts val="800"/>
              </a:spcAft>
              <a:buClrTx/>
              <a:buSzTx/>
              <a:buFont typeface="Courier New" panose="02070309020205020404" pitchFamily="49" charset="0"/>
              <a:buChar char="o"/>
              <a:tabLst/>
              <a:defRPr sz="1400">
                <a:solidFill>
                  <a:srgbClr val="FFFFFF"/>
                </a:solidFill>
                <a:latin typeface="San Francisco Display Light"/>
                <a:ea typeface="San Francisco Display Light"/>
                <a:cs typeface="San Francisco Display Light"/>
                <a:sym typeface="San Francisco Display Light"/>
              </a:defRPr>
            </a:pPr>
            <a:r>
              <a:rPr kumimoji="0" lang="en-US" sz="1867" b="1" i="0" u="none" strike="noStrike" kern="1200" cap="none" spc="6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anose="020B0502040204020203" pitchFamily="34" charset="0"/>
                <a:ea typeface="San Francisco Display Light"/>
                <a:cs typeface="Segoe UI Semibold" panose="020B0502040204020203" pitchFamily="34" charset="0"/>
                <a:sym typeface="Quattrocento Sans"/>
              </a:rPr>
              <a:t>L2 Topic Title</a:t>
            </a:r>
          </a:p>
          <a:p>
            <a:pPr marL="480472" marR="0" lvl="2" indent="-241294" algn="l" defTabSz="914377" rtl="0" eaLnBrk="1" fontAlgn="auto" latinLnBrk="0" hangingPunct="1">
              <a:lnSpc>
                <a:spcPct val="120000"/>
              </a:lnSpc>
              <a:spcBef>
                <a:spcPts val="4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rgbClr val="FFFFFF"/>
                </a:solidFill>
                <a:latin typeface="San Francisco Display Light"/>
                <a:ea typeface="San Francisco Display Light"/>
                <a:cs typeface="San Francisco Display Light"/>
                <a:sym typeface="San Francisco Display Light"/>
              </a:defRPr>
            </a:pPr>
            <a:r>
              <a:rPr kumimoji="0" lang="en-US" sz="1867" b="1" i="0" u="none" strike="noStrike" kern="1200" cap="none" spc="5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anose="020B0502040204020203" pitchFamily="34" charset="0"/>
                <a:ea typeface="Segoe UI Semilight" charset="0"/>
                <a:cs typeface="Segoe UI Semibold" panose="020B0502040204020203" pitchFamily="34" charset="0"/>
                <a:sym typeface="San Francisco Display Light"/>
              </a:rPr>
              <a:t>L3 Topic Title</a:t>
            </a:r>
          </a:p>
          <a:p>
            <a:pPr marL="0" marR="0" lvl="0" indent="0" algn="l" defTabSz="914377" rtl="0" eaLnBrk="1" fontAlgn="auto" latinLnBrk="0" hangingPunct="1">
              <a:lnSpc>
                <a:spcPct val="120000"/>
              </a:lnSpc>
              <a:spcBef>
                <a:spcPts val="400"/>
              </a:spcBef>
              <a:spcAft>
                <a:spcPts val="800"/>
              </a:spcAft>
              <a:buClr>
                <a:srgbClr val="FFFFFF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kumimoji="0" lang="en-US" sz="1867" b="1" i="0" u="none" strike="noStrike" kern="1200" cap="none" spc="67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  <a:sym typeface="Quattrocento Sans"/>
              </a:rPr>
              <a:t>L1 Topic Title</a:t>
            </a:r>
          </a:p>
          <a:p>
            <a:pPr marL="0" marR="0" lvl="0" indent="0" algn="l" defTabSz="914377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TW" sz="1867" b="1" i="0" u="none" strike="noStrike" kern="1200" cap="none" spc="67" normalizeH="0" baseline="0" noProof="0" dirty="0">
              <a:ln>
                <a:noFill/>
              </a:ln>
              <a:solidFill>
                <a:srgbClr val="4B4B4B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5" name="Picture Placeholder 6" descr="A colorful circle with white text&#10;&#10;Description automatically generated">
            <a:extLst>
              <a:ext uri="{FF2B5EF4-FFF2-40B4-BE49-F238E27FC236}">
                <a16:creationId xmlns:a16="http://schemas.microsoft.com/office/drawing/2014/main" id="{E34C777F-B9BD-4B85-0843-2DF6C69F6E5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8925" y="2"/>
            <a:ext cx="4713635" cy="6857999"/>
          </a:xfrm>
          <a:custGeom>
            <a:avLst/>
            <a:gdLst>
              <a:gd name="connsiteX0" fmla="*/ 0 w 4020457"/>
              <a:gd name="connsiteY0" fmla="*/ 0 h 6857999"/>
              <a:gd name="connsiteX1" fmla="*/ 4020457 w 4020457"/>
              <a:gd name="connsiteY1" fmla="*/ 0 h 6857999"/>
              <a:gd name="connsiteX2" fmla="*/ 4020457 w 4020457"/>
              <a:gd name="connsiteY2" fmla="*/ 6857999 h 6857999"/>
              <a:gd name="connsiteX3" fmla="*/ 0 w 4020457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20457" h="6857999">
                <a:moveTo>
                  <a:pt x="0" y="0"/>
                </a:moveTo>
                <a:lnTo>
                  <a:pt x="4020457" y="0"/>
                </a:lnTo>
                <a:lnTo>
                  <a:pt x="4020457" y="6857999"/>
                </a:lnTo>
                <a:lnTo>
                  <a:pt x="0" y="6857999"/>
                </a:lnTo>
                <a:close/>
              </a:path>
            </a:pathLst>
          </a:custGeom>
        </p:spPr>
      </p:pic>
      <p:pic>
        <p:nvPicPr>
          <p:cNvPr id="16" name="Picture Placeholder 14" descr="A colorful circle with white text&#10;&#10;Description automatically generated">
            <a:extLst>
              <a:ext uri="{FF2B5EF4-FFF2-40B4-BE49-F238E27FC236}">
                <a16:creationId xmlns:a16="http://schemas.microsoft.com/office/drawing/2014/main" id="{365D69BC-628D-5657-C7DE-01C87590BD7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02"/>
          <a:stretch/>
        </p:blipFill>
        <p:spPr>
          <a:xfrm>
            <a:off x="10624347" y="1"/>
            <a:ext cx="1558959" cy="6857999"/>
          </a:xfrm>
          <a:custGeom>
            <a:avLst/>
            <a:gdLst>
              <a:gd name="connsiteX0" fmla="*/ 0 w 1558959"/>
              <a:gd name="connsiteY0" fmla="*/ 0 h 6857999"/>
              <a:gd name="connsiteX1" fmla="*/ 1558959 w 1558959"/>
              <a:gd name="connsiteY1" fmla="*/ 0 h 6857999"/>
              <a:gd name="connsiteX2" fmla="*/ 1558959 w 1558959"/>
              <a:gd name="connsiteY2" fmla="*/ 6857999 h 6857999"/>
              <a:gd name="connsiteX3" fmla="*/ 0 w 1558959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8959" h="6857999">
                <a:moveTo>
                  <a:pt x="0" y="0"/>
                </a:moveTo>
                <a:lnTo>
                  <a:pt x="1558959" y="0"/>
                </a:lnTo>
                <a:lnTo>
                  <a:pt x="1558959" y="6857999"/>
                </a:lnTo>
                <a:lnTo>
                  <a:pt x="0" y="685799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91791928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eader Slide"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FF54-A483-F83B-319A-714C7718F5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8177" y="2405969"/>
            <a:ext cx="4131352" cy="118345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You!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795C42D-5045-0B00-D4F9-EF1EBE7439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888177" y="3687733"/>
            <a:ext cx="4131352" cy="3020252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333" b="1" i="0">
                <a:solidFill>
                  <a:schemeClr val="bg1">
                    <a:lumMod val="85000"/>
                  </a:schemeClr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Subtitle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26D4CA1-9C14-C3F7-7C60-C63ECD7A51D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0771" y="241186"/>
            <a:ext cx="301487" cy="30148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133E65C-D2E4-5454-1B3D-E1BA90C21D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9647" y="309907"/>
            <a:ext cx="1357715" cy="158400"/>
          </a:xfrm>
          <a:prstGeom prst="rect">
            <a:avLst/>
          </a:prstGeom>
        </p:spPr>
      </p:pic>
      <p:sp>
        <p:nvSpPr>
          <p:cNvPr id="9" name="Shape 48">
            <a:extLst>
              <a:ext uri="{FF2B5EF4-FFF2-40B4-BE49-F238E27FC236}">
                <a16:creationId xmlns:a16="http://schemas.microsoft.com/office/drawing/2014/main" id="{497FD3EA-EC7B-B394-867A-4B0B8E3CE2AD}"/>
              </a:ext>
            </a:extLst>
          </p:cNvPr>
          <p:cNvSpPr/>
          <p:nvPr/>
        </p:nvSpPr>
        <p:spPr>
          <a:xfrm rot="2700000">
            <a:off x="7715654" y="400564"/>
            <a:ext cx="6021897" cy="5839416"/>
          </a:xfrm>
          <a:prstGeom prst="roundRect">
            <a:avLst>
              <a:gd name="adj" fmla="val 1321"/>
            </a:avLst>
          </a:prstGeom>
          <a:gradFill flip="none" rotWithShape="1">
            <a:gsLst>
              <a:gs pos="0">
                <a:srgbClr val="7CBD2A"/>
              </a:gs>
              <a:gs pos="100000">
                <a:srgbClr val="00A7BC"/>
              </a:gs>
            </a:gsLst>
            <a:lin ang="18900000" scaled="1"/>
            <a:tileRect/>
          </a:gradFill>
          <a:ln w="12700">
            <a:miter lim="400000"/>
          </a:ln>
          <a:effectLst>
            <a:outerShdw blurRad="190500" dist="25400" dir="13285056" rotWithShape="0">
              <a:srgbClr val="000000">
                <a:alpha val="26301"/>
              </a:srgbClr>
            </a:outerShdw>
          </a:effectLst>
        </p:spPr>
        <p:txBody>
          <a:bodyPr lIns="27704" rIns="27704" anchor="ctr"/>
          <a:lstStyle/>
          <a:p>
            <a:pPr marL="0" marR="0" lvl="0" indent="0" defTabSz="914144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76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  <a:sym typeface="Calibri"/>
            </a:endParaRPr>
          </a:p>
        </p:txBody>
      </p:sp>
      <p:pic>
        <p:nvPicPr>
          <p:cNvPr id="10" name="Picture Placeholder 2">
            <a:extLst>
              <a:ext uri="{FF2B5EF4-FFF2-40B4-BE49-F238E27FC236}">
                <a16:creationId xmlns:a16="http://schemas.microsoft.com/office/drawing/2014/main" id="{50F75610-AC94-D691-6465-CE6BC718A71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3240000">
            <a:off x="7714796" y="399734"/>
            <a:ext cx="6023611" cy="5841076"/>
          </a:xfrm>
          <a:custGeom>
            <a:avLst/>
            <a:gdLst>
              <a:gd name="connsiteX0" fmla="*/ 195528 w 10960101"/>
              <a:gd name="connsiteY0" fmla="*/ 0 h 10960101"/>
              <a:gd name="connsiteX1" fmla="*/ 10764573 w 10960101"/>
              <a:gd name="connsiteY1" fmla="*/ 0 h 10960101"/>
              <a:gd name="connsiteX2" fmla="*/ 10960101 w 10960101"/>
              <a:gd name="connsiteY2" fmla="*/ 195528 h 10960101"/>
              <a:gd name="connsiteX3" fmla="*/ 10960101 w 10960101"/>
              <a:gd name="connsiteY3" fmla="*/ 10764573 h 10960101"/>
              <a:gd name="connsiteX4" fmla="*/ 10764573 w 10960101"/>
              <a:gd name="connsiteY4" fmla="*/ 10960101 h 10960101"/>
              <a:gd name="connsiteX5" fmla="*/ 195528 w 10960101"/>
              <a:gd name="connsiteY5" fmla="*/ 10960101 h 10960101"/>
              <a:gd name="connsiteX6" fmla="*/ 0 w 10960101"/>
              <a:gd name="connsiteY6" fmla="*/ 10764573 h 10960101"/>
              <a:gd name="connsiteX7" fmla="*/ 0 w 10960101"/>
              <a:gd name="connsiteY7" fmla="*/ 195528 h 10960101"/>
              <a:gd name="connsiteX8" fmla="*/ 195528 w 10960101"/>
              <a:gd name="connsiteY8" fmla="*/ 0 h 10960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960101" h="10960101">
                <a:moveTo>
                  <a:pt x="195528" y="0"/>
                </a:moveTo>
                <a:lnTo>
                  <a:pt x="10764573" y="0"/>
                </a:lnTo>
                <a:cubicBezTo>
                  <a:pt x="10872560" y="0"/>
                  <a:pt x="10960101" y="87541"/>
                  <a:pt x="10960101" y="195528"/>
                </a:cubicBezTo>
                <a:lnTo>
                  <a:pt x="10960101" y="10764573"/>
                </a:lnTo>
                <a:cubicBezTo>
                  <a:pt x="10960101" y="10872560"/>
                  <a:pt x="10872560" y="10960101"/>
                  <a:pt x="10764573" y="10960101"/>
                </a:cubicBezTo>
                <a:lnTo>
                  <a:pt x="195528" y="10960101"/>
                </a:lnTo>
                <a:cubicBezTo>
                  <a:pt x="87541" y="10960101"/>
                  <a:pt x="0" y="10872560"/>
                  <a:pt x="0" y="10764573"/>
                </a:cubicBezTo>
                <a:lnTo>
                  <a:pt x="0" y="195528"/>
                </a:lnTo>
                <a:cubicBezTo>
                  <a:pt x="0" y="87541"/>
                  <a:pt x="87541" y="0"/>
                  <a:pt x="195528" y="0"/>
                </a:cubicBezTo>
                <a:close/>
              </a:path>
            </a:pathLst>
          </a:custGeom>
          <a:noFill/>
          <a:effectLst>
            <a:outerShdw blurRad="215900" sx="101000" sy="101000" algn="ctr" rotWithShape="0">
              <a:prstClr val="black">
                <a:alpha val="16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142806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svg"/><Relationship Id="rId18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itle Placeholder 1"/>
          <p:cNvSpPr>
            <a:spLocks noGrp="1"/>
          </p:cNvSpPr>
          <p:nvPr>
            <p:ph type="title"/>
          </p:nvPr>
        </p:nvSpPr>
        <p:spPr bwMode="auto">
          <a:xfrm>
            <a:off x="2305051" y="188913"/>
            <a:ext cx="9480549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266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838201"/>
            <a:ext cx="11379200" cy="528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Forth level</a:t>
            </a:r>
          </a:p>
          <a:p>
            <a:pPr lvl="3"/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</p:txBody>
      </p:sp>
      <p:pic>
        <p:nvPicPr>
          <p:cNvPr id="2" name="Graphic 2">
            <a:extLst>
              <a:ext uri="{FF2B5EF4-FFF2-40B4-BE49-F238E27FC236}">
                <a16:creationId xmlns:a16="http://schemas.microsoft.com/office/drawing/2014/main" id="{0E2F7A95-F431-B025-95A2-C7975F2ED890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00771" y="241186"/>
            <a:ext cx="301487" cy="301487"/>
          </a:xfrm>
          <a:prstGeom prst="rect">
            <a:avLst/>
          </a:prstGeom>
        </p:spPr>
      </p:pic>
      <p:pic>
        <p:nvPicPr>
          <p:cNvPr id="3" name="Graphic 6">
            <a:extLst>
              <a:ext uri="{FF2B5EF4-FFF2-40B4-BE49-F238E27FC236}">
                <a16:creationId xmlns:a16="http://schemas.microsoft.com/office/drawing/2014/main" id="{2B9DEECE-5695-A307-B733-D8DE8F6A08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39647" y="309907"/>
            <a:ext cx="1357715" cy="158400"/>
          </a:xfrm>
          <a:prstGeom prst="rect">
            <a:avLst/>
          </a:prstGeom>
        </p:spPr>
      </p:pic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A697250-ADA1-7BBA-8F02-FB4232492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84368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CD6108-5653-4DC4-A010-10404808C214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44E008C-F89B-E5E5-22E6-CC1977F40B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0459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42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ransition spd="slow">
    <p:fade/>
  </p:transition>
  <p:txStyles>
    <p:titleStyle>
      <a:lvl1pPr algn="r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7CBD2A"/>
          </a:solidFill>
          <a:latin typeface="+mj-lt"/>
          <a:ea typeface="+mj-ea"/>
          <a:cs typeface="+mj-cs"/>
        </a:defRPr>
      </a:lvl1pPr>
      <a:lvl2pPr algn="r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7CBD2A"/>
          </a:solidFill>
          <a:latin typeface="Arial" pitchFamily="34" charset="0"/>
          <a:ea typeface="新細明體" pitchFamily="18" charset="-120"/>
          <a:cs typeface="Calibri" pitchFamily="34" charset="0"/>
        </a:defRPr>
      </a:lvl2pPr>
      <a:lvl3pPr algn="r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7CBD2A"/>
          </a:solidFill>
          <a:latin typeface="Arial" pitchFamily="34" charset="0"/>
          <a:ea typeface="新細明體" pitchFamily="18" charset="-120"/>
          <a:cs typeface="Calibri" pitchFamily="34" charset="0"/>
        </a:defRPr>
      </a:lvl3pPr>
      <a:lvl4pPr algn="r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7CBD2A"/>
          </a:solidFill>
          <a:latin typeface="Arial" pitchFamily="34" charset="0"/>
          <a:ea typeface="新細明體" pitchFamily="18" charset="-120"/>
          <a:cs typeface="Calibri" pitchFamily="34" charset="0"/>
        </a:defRPr>
      </a:lvl4pPr>
      <a:lvl5pPr algn="r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7CBD2A"/>
          </a:solidFill>
          <a:latin typeface="Arial" pitchFamily="34" charset="0"/>
          <a:ea typeface="新細明體" pitchFamily="18" charset="-120"/>
          <a:cs typeface="Calibri" pitchFamily="34" charset="0"/>
        </a:defRPr>
      </a:lvl5pPr>
      <a:lvl6pPr marL="457200" algn="r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7CBD2A"/>
          </a:solidFill>
          <a:latin typeface="Arial" pitchFamily="34" charset="0"/>
          <a:ea typeface="新細明體" pitchFamily="18" charset="-120"/>
          <a:cs typeface="Calibri" pitchFamily="34" charset="0"/>
        </a:defRPr>
      </a:lvl6pPr>
      <a:lvl7pPr marL="914400" algn="r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7CBD2A"/>
          </a:solidFill>
          <a:latin typeface="Arial" pitchFamily="34" charset="0"/>
          <a:ea typeface="新細明體" pitchFamily="18" charset="-120"/>
          <a:cs typeface="Calibri" pitchFamily="34" charset="0"/>
        </a:defRPr>
      </a:lvl7pPr>
      <a:lvl8pPr marL="1371600" algn="r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7CBD2A"/>
          </a:solidFill>
          <a:latin typeface="Arial" pitchFamily="34" charset="0"/>
          <a:ea typeface="新細明體" pitchFamily="18" charset="-120"/>
          <a:cs typeface="Calibri" pitchFamily="34" charset="0"/>
        </a:defRPr>
      </a:lvl8pPr>
      <a:lvl9pPr marL="1828800" algn="r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7CBD2A"/>
          </a:solidFill>
          <a:latin typeface="Arial" pitchFamily="34" charset="0"/>
          <a:ea typeface="新細明體" pitchFamily="18" charset="-120"/>
          <a:cs typeface="Calibri" pitchFamily="34" charset="0"/>
        </a:defRPr>
      </a:lvl9pPr>
    </p:titleStyle>
    <p:bodyStyle>
      <a:lvl1pPr marL="261938" indent="-261938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449263" indent="-271463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719138" indent="-1778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982663" indent="-177800" algn="l" defTabSz="457200" rtl="0" eaLnBrk="1" fontAlgn="base" hangingPunct="1">
        <a:spcBef>
          <a:spcPct val="20000"/>
        </a:spcBef>
        <a:spcAft>
          <a:spcPct val="0"/>
        </a:spcAft>
        <a:buFont typeface="微軟正黑體"/>
        <a:buChar char="-"/>
        <a:defRPr sz="2000">
          <a:solidFill>
            <a:schemeClr val="tx1"/>
          </a:solidFill>
          <a:latin typeface="Calibri" pitchFamily="34" charset="0"/>
          <a:ea typeface="MS PGothic" pitchFamily="34" charset="-128"/>
          <a:cs typeface="+mn-cs"/>
        </a:defRPr>
      </a:lvl4pPr>
      <a:lvl5pPr marL="1962150" indent="-173038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rgbClr val="555555"/>
          </a:solidFill>
          <a:latin typeface="Calibri" pitchFamily="34" charset="0"/>
          <a:ea typeface="MS PGothic" pitchFamily="34" charset="-128"/>
          <a:cs typeface="+mn-cs"/>
        </a:defRPr>
      </a:lvl5pPr>
      <a:lvl6pPr marL="2419350" indent="-173038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rgbClr val="555555"/>
          </a:solidFill>
          <a:latin typeface="Calibri" pitchFamily="34" charset="0"/>
          <a:ea typeface="MS PGothic" pitchFamily="34" charset="-128"/>
          <a:cs typeface="+mn-cs"/>
        </a:defRPr>
      </a:lvl6pPr>
      <a:lvl7pPr marL="2876550" indent="-173038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rgbClr val="555555"/>
          </a:solidFill>
          <a:latin typeface="Calibri" pitchFamily="34" charset="0"/>
          <a:ea typeface="MS PGothic" pitchFamily="34" charset="-128"/>
          <a:cs typeface="+mn-cs"/>
        </a:defRPr>
      </a:lvl7pPr>
      <a:lvl8pPr marL="3333750" indent="-173038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rgbClr val="555555"/>
          </a:solidFill>
          <a:latin typeface="Calibri" pitchFamily="34" charset="0"/>
          <a:ea typeface="MS PGothic" pitchFamily="34" charset="-128"/>
          <a:cs typeface="+mn-cs"/>
        </a:defRPr>
      </a:lvl8pPr>
      <a:lvl9pPr marL="3790950" indent="-173038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rgbClr val="555555"/>
          </a:solidFill>
          <a:latin typeface="Calibri" pitchFamily="34" charset="0"/>
          <a:ea typeface="MS PGothic" pitchFamily="34" charset="-128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SAG：基於查詢時動態超邊的</a:t>
            </a:r>
          </a:p>
          <a:p>
            <a:r>
              <a:t>SQL 檢索增強生成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讀書會報告  |  原著：吳宇超 等（智躍 AI, Zleap AI）</a:t>
            </a:r>
          </a:p>
          <a:p>
            <a:r>
              <a:rPr sz="1400"/>
              <a:t>2026 論文研讀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 研究動機與背景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i="1">
                <a:solidFill>
                  <a:srgbClr val="555555"/>
                </a:solidFill>
              </a:rPr>
              <a:t>為什麼向量檢索不夠、知識圖譜又太貴？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這篇論文在解決什麼問題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600"/>
              </a:spcAft>
            </a:pPr>
            <a:r>
              <a:rPr sz="1800">
                <a:solidFill>
                  <a:srgbClr val="555555"/>
                </a:solidFill>
                <a:latin typeface="Calibri"/>
              </a:rPr>
              <a:t>Agent 系統的瓶頸正從模型能力轉移到資料基礎設施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555555"/>
                </a:solidFill>
                <a:latin typeface="Calibri"/>
              </a:rPr>
              <a:t>多跳查詢下，每一步檢索錯誤都會沿推理鏈累積放大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555555"/>
                </a:solidFill>
                <a:latin typeface="Calibri"/>
              </a:rPr>
              <a:t>檢索基礎設施需要的不只是更高的單次 Recall，而是跨多跳可靠組織證據的能力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555555"/>
                </a:solidFill>
                <a:latin typeface="Calibri"/>
              </a:rPr>
              <a:t>核心矛盾：密集檢索快但淺；知識圖譜深但構建與維護成本極高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現有兩條路線各自的局限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500">
                <a:solidFill>
                  <a:srgbClr val="005480"/>
                </a:solidFill>
              </a:rPr>
              <a:t>路線一：密集檢索 Dense Retrieval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本質上是語義相似度匹配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難以還原實體之間明確的關聯鏈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無法將散落於多篇文件的證據組織成結構化證據鏈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遇到時間約束、實體角色、多步依賴時局限尤為明顯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500">
                <a:solidFill>
                  <a:srgbClr val="631B4B"/>
                </a:solidFill>
              </a:rPr>
              <a:t>路線二：結構增強方法 Knowledge Graph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離線構建知識圖譜或層級摘要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三元組抽取、實體融合、關係規範化，連續引入錯誤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構建成本高，維護成本甚至可能超過構建成本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查詢時常退化為節點/摘要層級的扁平相似度匹配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263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1">
                <a:solidFill>
                  <a:srgbClr val="005C1F"/>
                </a:solidFill>
                <a:latin typeface="Calibri"/>
              </a:rPr>
              <a:t>共同問題：離線精心構建的結構，與線上查詢召回之間存在系統性脫節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圖 1：三種 RAG 範式的流程與效能對比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rPr sz="1300">
                <a:solidFill>
                  <a:srgbClr val="555555"/>
                </a:solidFill>
              </a:rPr>
              <a:t>SAG 兼顧檢索品質、結構能力與系統開銷，並天然支援僅追加式的增量更新</a:t>
            </a:r>
          </a:p>
        </p:txBody>
      </p:sp>
      <p:pic>
        <p:nvPicPr>
          <p:cNvPr id="5" name="Picture 4" descr="2606.15971v1_SAG_QL-Retrieval_Augmented_Generation_with_Query-Time_Dynamic_Hyperedges.pdf-000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460" y="365760"/>
            <a:ext cx="6505446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 SAG 方法設計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i="1">
                <a:solidFill>
                  <a:srgbClr val="555555"/>
                </a:solidFill>
              </a:rPr>
              <a:t>如何在查詢當下，動態組織出局部的高階關係？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SAG 核心主張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檢索不應完全由密集相似度驅動，也不應依賴離線預構建的靜態圖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把文件轉化為「事件-實體索引」：一個事件 + 一組索引實體 = 一個隱性超邊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查詢時，SQL 驅動確定性的事件-實體關聯與局部超邊激活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結構化路徑與向量檢索整合為統一管道，LLM 僅在壓縮後的候選集上做最終篩選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超邊於查詢周圍即時實例化，不依賴靜態圖結構，無需全域重新計算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事件-實體索引 Event-Entity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r>
              <a:rPr b="1" sz="1800">
                <a:solidFill>
                  <a:srgbClr val="005480"/>
                </a:solidFill>
              </a:rPr>
              <a:t>事件 Event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555555"/>
                </a:solidFill>
                <a:latin typeface="Calibri"/>
              </a:rPr>
              <a:t>區塊核心內容的簡明陳述，與 chunk 保持一對一映射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555555"/>
                </a:solidFill>
                <a:latin typeface="Calibri"/>
              </a:rPr>
              <a:t>保留完整語義，不拆解為多個獨立三元組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555555"/>
                </a:solidFill>
                <a:latin typeface="Calibri"/>
              </a:rPr>
              <a:t>避免三元組抽取造成的語義碎片化問題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r>
              <a:rPr b="1" sz="1800">
                <a:solidFill>
                  <a:srgbClr val="631B4B"/>
                </a:solidFill>
              </a:rPr>
              <a:t>實體 Entities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555555"/>
                </a:solidFill>
                <a:latin typeface="Calibri"/>
              </a:rPr>
              <a:t>涵蓋時間、地點、人物、組織、群體、主題、作品、產品、動作、指標、標籤共 11 類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555555"/>
                </a:solidFill>
                <a:latin typeface="Calibri"/>
              </a:rPr>
              <a:t>不攜帶完整語義，只作為連接不同事件的索引/擴展點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555555"/>
                </a:solidFill>
                <a:latin typeface="Calibri"/>
              </a:rPr>
              <a:t>僅靠字串規範化與 SQL 去重，維護成本低，天然支援 append-only 增量寫入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圖 2：SAG 架構總覽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rPr sz="1250">
                <a:solidFill>
                  <a:srgbClr val="555555"/>
                </a:solidFill>
              </a:rPr>
              <a:t>離線：Chunk→Event+Entity 寫入 SQL/向量/全文索引；線上：種子召回→查詢時擴展→LLM精細篩選</a:t>
            </a:r>
          </a:p>
        </p:txBody>
      </p:sp>
      <p:pic>
        <p:nvPicPr>
          <p:cNvPr id="5" name="Picture 4" descr="2606.15971v1_SAG_QL-Retrieval_Augmented_Generation_with_Query-Time_Dynamic_Hyperedges.pdf-0005-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110" y="320040"/>
            <a:ext cx="628729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檢索流程三步驟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Oval 3"/>
          <p:cNvSpPr/>
          <p:nvPr/>
        </p:nvSpPr>
        <p:spPr>
          <a:xfrm>
            <a:off x="749808" y="1234439"/>
            <a:ext cx="457200" cy="457200"/>
          </a:xfrm>
          <a:prstGeom prst="ellipse">
            <a:avLst/>
          </a:prstGeom>
          <a:solidFill>
            <a:srgbClr val="005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7" y="1234439"/>
            <a:ext cx="258775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05480"/>
                </a:solidFill>
                <a:latin typeface="Calibri"/>
              </a:rPr>
              <a:t>種子檢索 Seed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01367"/>
            <a:ext cx="3118104" cy="2679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5555"/>
                </a:solidFill>
                <a:latin typeface="Calibri"/>
              </a:rPr>
              <a:t>透過實體定位相關事件的入口點：實體路徑與查詢向量路徑雙管齊下，合併成初始候選事件集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05156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Oval 7"/>
          <p:cNvSpPr/>
          <p:nvPr/>
        </p:nvSpPr>
        <p:spPr>
          <a:xfrm>
            <a:off x="4590288" y="1234439"/>
            <a:ext cx="457200" cy="457200"/>
          </a:xfrm>
          <a:prstGeom prst="ellipse">
            <a:avLst/>
          </a:prstGeom>
          <a:solidFill>
            <a:srgbClr val="7CC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4648" y="1234439"/>
            <a:ext cx="258775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7CC02A"/>
                </a:solidFill>
                <a:latin typeface="Calibri"/>
              </a:rPr>
              <a:t>查詢時擴展 Query-Time Expansion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1801367"/>
            <a:ext cx="3118104" cy="2679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5555"/>
                </a:solidFill>
                <a:latin typeface="Calibri"/>
              </a:rPr>
              <a:t>沿共享實體逐跳（預設 H=1）擴展候選池，以 SQL Join 找出關聯事件，補足多跳中間證據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05156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Oval 11"/>
          <p:cNvSpPr/>
          <p:nvPr/>
        </p:nvSpPr>
        <p:spPr>
          <a:xfrm>
            <a:off x="8430768" y="1234439"/>
            <a:ext cx="457200" cy="457200"/>
          </a:xfrm>
          <a:prstGeom prst="ellipse">
            <a:avLst/>
          </a:prstGeom>
          <a:solidFill>
            <a:srgbClr val="63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5128" y="1234439"/>
            <a:ext cx="258775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631B4B"/>
                </a:solidFill>
                <a:latin typeface="Calibri"/>
              </a:rPr>
              <a:t>最終篩選 Final Selection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1801367"/>
            <a:ext cx="3118104" cy="2679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5555"/>
                </a:solidFill>
                <a:latin typeface="Calibri"/>
              </a:rPr>
              <a:t>候選集縮限後由 LLM 精細重排序；結構路徑與語義路徑雙路輸出，合併去重回傳最終證據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920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05C1F"/>
                </a:solidFill>
                <a:latin typeface="Calibri"/>
              </a:rPr>
              <a:t>SQL 負責確定性過濾與 Join；向量檢索負責語義擴展；LLM 僅保留給少數高價值的語義決策點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可解釋性 Interpretability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286000"/>
            <a:ext cx="1706879" cy="1188720"/>
          </a:xfrm>
          <a:prstGeom prst="roundRect">
            <a:avLst>
              <a:gd name="adj" fmla="val 15000"/>
            </a:avLst>
          </a:prstGeom>
          <a:solidFill>
            <a:srgbClr val="005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50" b="1">
                <a:solidFill>
                  <a:srgbClr val="FFFFFF"/>
                </a:solidFill>
              </a:rPr>
              <a:t>Query</a:t>
            </a:r>
          </a:p>
        </p:txBody>
      </p:sp>
      <p:sp>
        <p:nvSpPr>
          <p:cNvPr id="4" name="Chevron 3"/>
          <p:cNvSpPr/>
          <p:nvPr/>
        </p:nvSpPr>
        <p:spPr>
          <a:xfrm>
            <a:off x="2255519" y="2779776"/>
            <a:ext cx="164592" cy="201168"/>
          </a:xfrm>
          <a:prstGeom prst="chevron">
            <a:avLst/>
          </a:prstGeom>
          <a:solidFill>
            <a:srgbClr val="7CC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20112" y="2286000"/>
            <a:ext cx="1706879" cy="118872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50" b="1">
                <a:solidFill>
                  <a:srgbClr val="555555"/>
                </a:solidFill>
              </a:rPr>
              <a:t>Entities</a:t>
            </a:r>
          </a:p>
        </p:txBody>
      </p:sp>
      <p:sp>
        <p:nvSpPr>
          <p:cNvPr id="6" name="Chevron 5"/>
          <p:cNvSpPr/>
          <p:nvPr/>
        </p:nvSpPr>
        <p:spPr>
          <a:xfrm>
            <a:off x="4126991" y="2779776"/>
            <a:ext cx="164592" cy="201168"/>
          </a:xfrm>
          <a:prstGeom prst="chevron">
            <a:avLst/>
          </a:prstGeom>
          <a:solidFill>
            <a:srgbClr val="7CC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1583" y="2286000"/>
            <a:ext cx="1706879" cy="118872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50" b="1">
                <a:solidFill>
                  <a:srgbClr val="555555"/>
                </a:solidFill>
              </a:rPr>
              <a:t>Expanded</a:t>
            </a:r>
            <a:br/>
            <a:r>
              <a:rPr sz="1250" b="1">
                <a:solidFill>
                  <a:srgbClr val="555555"/>
                </a:solidFill>
              </a:rPr>
              <a:t>Entities</a:t>
            </a:r>
          </a:p>
        </p:txBody>
      </p:sp>
      <p:sp>
        <p:nvSpPr>
          <p:cNvPr id="8" name="Chevron 7"/>
          <p:cNvSpPr/>
          <p:nvPr/>
        </p:nvSpPr>
        <p:spPr>
          <a:xfrm>
            <a:off x="5998463" y="2779776"/>
            <a:ext cx="164592" cy="201168"/>
          </a:xfrm>
          <a:prstGeom prst="chevron">
            <a:avLst/>
          </a:prstGeom>
          <a:solidFill>
            <a:srgbClr val="7CC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3055" y="2286000"/>
            <a:ext cx="1706879" cy="118872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50" b="1">
                <a:solidFill>
                  <a:srgbClr val="555555"/>
                </a:solidFill>
              </a:rPr>
              <a:t>Events</a:t>
            </a:r>
          </a:p>
        </p:txBody>
      </p:sp>
      <p:sp>
        <p:nvSpPr>
          <p:cNvPr id="10" name="Chevron 9"/>
          <p:cNvSpPr/>
          <p:nvPr/>
        </p:nvSpPr>
        <p:spPr>
          <a:xfrm>
            <a:off x="7869935" y="2779776"/>
            <a:ext cx="164592" cy="201168"/>
          </a:xfrm>
          <a:prstGeom prst="chevron">
            <a:avLst/>
          </a:prstGeom>
          <a:solidFill>
            <a:srgbClr val="7CC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34527" y="2286000"/>
            <a:ext cx="1706879" cy="118872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50" b="1">
                <a:solidFill>
                  <a:srgbClr val="555555"/>
                </a:solidFill>
              </a:rPr>
              <a:t>Hyperedges</a:t>
            </a:r>
          </a:p>
        </p:txBody>
      </p:sp>
      <p:sp>
        <p:nvSpPr>
          <p:cNvPr id="12" name="Chevron 11"/>
          <p:cNvSpPr/>
          <p:nvPr/>
        </p:nvSpPr>
        <p:spPr>
          <a:xfrm>
            <a:off x="9741408" y="2779776"/>
            <a:ext cx="164592" cy="201168"/>
          </a:xfrm>
          <a:prstGeom prst="chevron">
            <a:avLst/>
          </a:prstGeom>
          <a:solidFill>
            <a:srgbClr val="7CC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905999" y="2286000"/>
            <a:ext cx="1706879" cy="1188720"/>
          </a:xfrm>
          <a:prstGeom prst="roundRect">
            <a:avLst>
              <a:gd name="adj" fmla="val 15000"/>
            </a:avLst>
          </a:prstGeom>
          <a:solidFill>
            <a:srgbClr val="005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50" b="1">
                <a:solidFill>
                  <a:srgbClr val="FFFFFF"/>
                </a:solidFill>
              </a:rPr>
              <a:t>Chunks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LLM 抽取實體 → 向量擴展 → SQL Join → SQL 擴展 → LLM 重排序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5488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這條鏈條中的每一步皆可審計。若某一環節結果為空，可直接定位失敗原因（例如：實體未識別、擴展未產生新候選、或 SQL Join 未返回結果），避免了端到端黑盒模型的不可解構問題。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 實驗結果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i="1">
                <a:solidFill>
                  <a:srgbClr val="555555"/>
                </a:solidFill>
              </a:rPr>
              <a:t>SAG 的檢索效果究竟提升了多少？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實驗設置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三個難度遞增的多跳基準：HotpotQA、2WikiMultiHopQA、MuSiQue，各抽樣 1,000 題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對比對象：HippoRAG 2（相同 Embedding／LLM 設定下重新執行）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指標：Recall@K（Any-hit 標準），主要報告 Recall@2 與 Recall@5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LLM：Qwen3.6-Flash；Embedding：BGE-Large-EN-v1.5（MuSiQue 另補 NV-Embed-v2）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超參數：擴展跳數 H=1，種子召回預算 50，候選事件 K_cand=100，最終輸出 K_out=10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主要結果：SAG vs. Baselines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555555"/>
                </a:solidFill>
                <a:latin typeface="Calibri"/>
              </a:rPr>
              <a:t>平均 Recall@2/5：SAG 79.3% / 88.2%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555555"/>
                </a:solidFill>
                <a:latin typeface="Calibri"/>
              </a:rPr>
              <a:t>對比 HippoRAG 2：68.2% / 83.3%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555555"/>
                </a:solidFill>
                <a:latin typeface="Calibri"/>
              </a:rPr>
              <a:t>9 個 Recall@K 指標中 8 個最佳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555555"/>
                </a:solidFill>
                <a:latin typeface="Calibri"/>
              </a:rPr>
              <a:t>MuSiQue（推理鏈最長）Recall@5 達 80.0%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66733" y="273051"/>
          <a:ext cx="6815667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133"/>
                <a:gridCol w="1363133"/>
                <a:gridCol w="1363133"/>
                <a:gridCol w="1363133"/>
                <a:gridCol w="1363135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方法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MuSiQue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2Wiki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HotpotQA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平均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BGE-Large-EN-v1.5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41.6/56.2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61.6/69.0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76.0/88.8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59.7/71.3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NV-Embed-v2 (7B)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52.7/69.7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67.1/76.5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84.1/94.5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68.0/80.2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HippoRAG 2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49.5/65.1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76.6/90.4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78.4/94.4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68.2/83.3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5C1F"/>
                          </a:solidFill>
                          <a:latin typeface="Calibri"/>
                        </a:rPr>
                        <a:t>SAG (Ours)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5C1F"/>
                          </a:solidFill>
                          <a:latin typeface="Calibri"/>
                        </a:rPr>
                        <a:t>64.1/80.0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5C1F"/>
                          </a:solidFill>
                          <a:latin typeface="Calibri"/>
                        </a:rPr>
                        <a:t>82.3/88.0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5C1F"/>
                          </a:solidFill>
                          <a:latin typeface="Calibri"/>
                        </a:rPr>
                        <a:t>91.6/96.5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5C1F"/>
                          </a:solidFill>
                          <a:latin typeface="Calibri"/>
                        </a:rPr>
                        <a:t>79.3/88.2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64024" y="5349240"/>
            <a:ext cx="6812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各儲存格為 Recall@2 / Recall@5 (%)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消融① 超邊 vs. 三元組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555555"/>
                </a:solidFill>
                <a:latin typeface="Calibri"/>
              </a:rPr>
              <a:t>三元組版 SAG：Recall@5 = 77.1%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555555"/>
                </a:solidFill>
                <a:latin typeface="Calibri"/>
              </a:rPr>
              <a:t>超邊版 SAG：Recall@5 = 80.0%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555555"/>
                </a:solidFill>
                <a:latin typeface="Calibri"/>
              </a:rPr>
              <a:t>皆遠高於 HippoRAG 2 的 65.1%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555555"/>
                </a:solidFill>
                <a:latin typeface="Calibri"/>
              </a:rPr>
              <a:t>管道架構帶來跨越式提升，超邊結構再貢獻 2.9 個百分點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66733" y="273051"/>
          <a:ext cx="681566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133"/>
                <a:gridCol w="1363133"/>
                <a:gridCol w="1363133"/>
                <a:gridCol w="1363133"/>
                <a:gridCol w="1363135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配置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R@1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R@2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R@5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R@10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55555"/>
                          </a:solidFill>
                          <a:latin typeface="Calibri"/>
                        </a:rPr>
                        <a:t>三元組 Triples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555"/>
                          </a:solidFill>
                          <a:latin typeface="Calibri"/>
                        </a:rPr>
                        <a:t>35.6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555"/>
                          </a:solidFill>
                          <a:latin typeface="Calibri"/>
                        </a:rPr>
                        <a:t>61.5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555"/>
                          </a:solidFill>
                          <a:latin typeface="Calibri"/>
                        </a:rPr>
                        <a:t>77.1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555"/>
                          </a:solidFill>
                          <a:latin typeface="Calibri"/>
                        </a:rPr>
                        <a:t>81.2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5C1F"/>
                          </a:solidFill>
                          <a:latin typeface="Calibri"/>
                        </a:rPr>
                        <a:t>超邊 Hyperedge（本文）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5C1F"/>
                          </a:solidFill>
                          <a:latin typeface="Calibri"/>
                        </a:rPr>
                        <a:t>36.2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5C1F"/>
                          </a:solidFill>
                          <a:latin typeface="Calibri"/>
                        </a:rPr>
                        <a:t>64.1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5C1F"/>
                          </a:solidFill>
                          <a:latin typeface="Calibri"/>
                        </a:rPr>
                        <a:t>80.0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5C1F"/>
                          </a:solidFill>
                          <a:latin typeface="Calibri"/>
                        </a:rPr>
                        <a:t>83.4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64024" y="2011680"/>
            <a:ext cx="6812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資料集：MuSiQue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消融② 查詢時擴展的必要性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555555"/>
                </a:solidFill>
                <a:latin typeface="Calibri"/>
              </a:rPr>
              <a:t>禁用查詢時擴展（H=0）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555555"/>
                </a:solidFill>
                <a:latin typeface="Calibri"/>
              </a:rPr>
              <a:t>Recall@5 從 80.0% 降至 69.4%（−10.6 個百分點）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555555"/>
                </a:solidFill>
                <a:latin typeface="Calibri"/>
              </a:rPr>
              <a:t>證明擴展機制補足了純向量檢索無法獨立召回的多跳中間證據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66733" y="273051"/>
          <a:ext cx="681566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133"/>
                <a:gridCol w="1363133"/>
                <a:gridCol w="1363133"/>
                <a:gridCol w="1363133"/>
                <a:gridCol w="1363135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跳數配置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R@1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R@2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R@5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R@10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55555"/>
                          </a:solidFill>
                          <a:latin typeface="Calibri"/>
                        </a:rPr>
                        <a:t>無擴展 H=0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555"/>
                          </a:solidFill>
                          <a:latin typeface="Calibri"/>
                        </a:rPr>
                        <a:t>35.7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555"/>
                          </a:solidFill>
                          <a:latin typeface="Calibri"/>
                        </a:rPr>
                        <a:t>57.3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555"/>
                          </a:solidFill>
                          <a:latin typeface="Calibri"/>
                        </a:rPr>
                        <a:t>69.4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555"/>
                          </a:solidFill>
                          <a:latin typeface="Calibri"/>
                        </a:rPr>
                        <a:t>74.3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5C1F"/>
                          </a:solidFill>
                          <a:latin typeface="Calibri"/>
                        </a:rPr>
                        <a:t>帶擴展 H=1（基準）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5C1F"/>
                          </a:solidFill>
                          <a:latin typeface="Calibri"/>
                        </a:rPr>
                        <a:t>36.2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5C1F"/>
                          </a:solidFill>
                          <a:latin typeface="Calibri"/>
                        </a:rPr>
                        <a:t>64.1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5C1F"/>
                          </a:solidFill>
                          <a:latin typeface="Calibri"/>
                        </a:rPr>
                        <a:t>80.0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5C1F"/>
                          </a:solidFill>
                          <a:latin typeface="Calibri"/>
                        </a:rPr>
                        <a:t>83.4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64024" y="2011680"/>
            <a:ext cx="6812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資料集：MuSiQue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消融③ 候選數量與 Token 成本權衡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350">
                <a:solidFill>
                  <a:srgbClr val="555555"/>
                </a:solidFill>
                <a:latin typeface="Calibri"/>
              </a:rPr>
              <a:t>K_cand=50 → R@5=76.1%（12.0M tokens）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555555"/>
                </a:solidFill>
                <a:latin typeface="Calibri"/>
              </a:rPr>
              <a:t>K_cand=100 → R@5=80.0%（20.0M tokens，基準）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555555"/>
                </a:solidFill>
                <a:latin typeface="Calibri"/>
              </a:rPr>
              <a:t>K_cand=200 → R@5=80.9%（35.5M tokens）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555555"/>
                </a:solidFill>
                <a:latin typeface="Calibri"/>
              </a:rPr>
              <a:t>K_cand=500 → R@5=81.8%（76.4M tokens）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555555"/>
                </a:solidFill>
                <a:latin typeface="Calibri"/>
              </a:rPr>
              <a:t>100 events 為性價比拐點，之後邊際收益遞減</a:t>
            </a:r>
          </a:p>
        </p:txBody>
      </p:sp>
      <p:pic>
        <p:nvPicPr>
          <p:cNvPr id="5" name="Picture 4" descr="2606.15971v1_SAG_QL-Retrieval_Augmented_Generation_with_Query-Time_Dynamic_Hyperedges.pdf-0010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733" y="706753"/>
            <a:ext cx="6815667" cy="498570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消融④ LLM 重排序與雙路配額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 sz="1400">
                <a:solidFill>
                  <a:srgbClr val="005480"/>
                </a:solidFill>
              </a:rPr>
              <a:t>LLM 重排序 vs. 輕量 Reranker（表6）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555555"/>
                </a:solidFill>
              </a:rPr>
              <a:t>替代 LLM 會使 R@5 下降 17.8 個百分點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b="1" sz="1400">
                <a:solidFill>
                  <a:srgbClr val="631B4B"/>
                </a:solidFill>
              </a:rPr>
              <a:t>結構/語義路徑配額（表7，MuSiQue）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555555"/>
                </a:solidFill>
              </a:rPr>
              <a:t>5:5 配額互補性最佳（R@5=80.0%）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2336" y="2148840"/>
          <a:ext cx="5586984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396"/>
                <a:gridCol w="1117396"/>
                <a:gridCol w="1117396"/>
                <a:gridCol w="1117396"/>
                <a:gridCol w="111740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方法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R@1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R@2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R@5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R@10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55555"/>
                          </a:solidFill>
                          <a:latin typeface="Calibri"/>
                        </a:rPr>
                        <a:t>Qwen3-Reranker-0.6B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  <a:latin typeface="Calibri"/>
                        </a:rPr>
                        <a:t>32.5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  <a:latin typeface="Calibri"/>
                        </a:rPr>
                        <a:t>46.7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  <a:latin typeface="Calibri"/>
                        </a:rPr>
                        <a:t>62.2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55555"/>
                          </a:solidFill>
                          <a:latin typeface="Calibri"/>
                        </a:rPr>
                        <a:t>70.8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5C1F"/>
                          </a:solidFill>
                          <a:latin typeface="Calibri"/>
                        </a:rPr>
                        <a:t>Qwen3.6-Flash (LLM)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5C1F"/>
                          </a:solidFill>
                          <a:latin typeface="Calibri"/>
                        </a:rPr>
                        <a:t>36.2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5C1F"/>
                          </a:solidFill>
                          <a:latin typeface="Calibri"/>
                        </a:rPr>
                        <a:t>64.1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5C1F"/>
                          </a:solidFill>
                          <a:latin typeface="Calibri"/>
                        </a:rPr>
                        <a:t>80.0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5C1F"/>
                          </a:solidFill>
                          <a:latin typeface="Calibri"/>
                        </a:rPr>
                        <a:t>83.4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99632" y="2148840"/>
          <a:ext cx="5586984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1051560"/>
                <a:gridCol w="941832"/>
                <a:gridCol w="941832"/>
                <a:gridCol w="941832"/>
                <a:gridCol w="932688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K_event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K_direct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R@1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R@2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R@5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R@10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29.4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41.6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56.2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63.8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36.6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64.5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73.3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77.6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36.6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63.6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79.6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Calibri"/>
                        </a:rPr>
                        <a:t>82.6</a:t>
                      </a:r>
                    </a:p>
                  </a:txBody>
                  <a:tcPr anchor="ctr" marL="54864" marR="54864" marT="27432" marB="27432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5C1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5C1F"/>
                          </a:solidFill>
                          <a:latin typeface="Calibri"/>
                        </a:rPr>
                        <a:t>5（基準）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5C1F"/>
                          </a:solidFill>
                          <a:latin typeface="Calibri"/>
                        </a:rPr>
                        <a:t>36.2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5C1F"/>
                          </a:solidFill>
                          <a:latin typeface="Calibri"/>
                        </a:rPr>
                        <a:t>64.1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5C1F"/>
                          </a:solidFill>
                          <a:latin typeface="Calibri"/>
                        </a:rPr>
                        <a:t>80.0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5C1F"/>
                          </a:solidFill>
                          <a:latin typeface="Calibri"/>
                        </a:rPr>
                        <a:t>83.4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對 Embedding 模型的魯棒性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spcAft>
                <a:spcPts val="1200"/>
              </a:spcAft>
            </a:pPr>
            <a:r>
              <a:rPr sz="1450">
                <a:solidFill>
                  <a:srgbClr val="555555"/>
                </a:solidFill>
                <a:latin typeface="Calibri"/>
              </a:rPr>
              <a:t>換用 NV-Embed-v2：SAG R@5 提升至 81.7%（HippoRAG2 為 74.6%）</a:t>
            </a:r>
          </a:p>
          <a:p>
            <a:pPr>
              <a:spcAft>
                <a:spcPts val="1200"/>
              </a:spcAft>
            </a:pPr>
            <a:r>
              <a:rPr sz="1450">
                <a:solidFill>
                  <a:srgbClr val="555555"/>
                </a:solidFill>
                <a:latin typeface="Calibri"/>
              </a:rPr>
              <a:t>換回 BGE-Large：SAG 僅微降至 80.0%（−1.7 個百分點）</a:t>
            </a:r>
          </a:p>
          <a:p>
            <a:pPr>
              <a:spcAft>
                <a:spcPts val="1200"/>
              </a:spcAft>
            </a:pPr>
            <a:r>
              <a:rPr sz="1450">
                <a:solidFill>
                  <a:srgbClr val="555555"/>
                </a:solidFill>
                <a:latin typeface="Calibri"/>
              </a:rPr>
              <a:t>HippoRAG2 大幅下降近 10 個百分點（至 65.1%）</a:t>
            </a:r>
          </a:p>
          <a:p>
            <a:pPr>
              <a:spcAft>
                <a:spcPts val="1200"/>
              </a:spcAft>
            </a:pPr>
            <a:r>
              <a:rPr sz="1450">
                <a:solidFill>
                  <a:srgbClr val="555555"/>
                </a:solidFill>
                <a:latin typeface="Calibri"/>
              </a:rPr>
              <a:t>SAG 的結構增益源於 SQL Join 的確切匹配，不高度依賴特定 Embedding 品質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66733" y="273051"/>
          <a:ext cx="681566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133"/>
                <a:gridCol w="1363133"/>
                <a:gridCol w="1363133"/>
                <a:gridCol w="1363133"/>
                <a:gridCol w="1363135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方法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R@1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R@2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R@5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R@10</a:t>
                      </a:r>
                    </a:p>
                  </a:txBody>
                  <a:tcPr anchor="ctr" marL="54864" marR="54864" marT="27432" marB="27432">
                    <a:solidFill>
                      <a:srgbClr val="00548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5C1F"/>
                          </a:solidFill>
                          <a:latin typeface="Calibri"/>
                        </a:rPr>
                        <a:t>SAG (NV-Embed-v2)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5C1F"/>
                          </a:solidFill>
                          <a:latin typeface="Calibri"/>
                        </a:rPr>
                        <a:t>36.4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5C1F"/>
                          </a:solidFill>
                          <a:latin typeface="Calibri"/>
                        </a:rPr>
                        <a:t>64.6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5C1F"/>
                          </a:solidFill>
                          <a:latin typeface="Calibri"/>
                        </a:rPr>
                        <a:t>81.7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5C1F"/>
                          </a:solidFill>
                          <a:latin typeface="Calibri"/>
                        </a:rPr>
                        <a:t>86.6</a:t>
                      </a:r>
                    </a:p>
                  </a:txBody>
                  <a:tcPr anchor="ctr" marL="54864" marR="54864" marT="27432" marB="27432">
                    <a:solidFill>
                      <a:srgbClr val="E2EDC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55555"/>
                          </a:solidFill>
                          <a:latin typeface="Calibri"/>
                        </a:rPr>
                        <a:t>HippoRAG 2 (NV-Embed-v2)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555"/>
                          </a:solidFill>
                          <a:latin typeface="Calibri"/>
                        </a:rPr>
                        <a:t>33.7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555"/>
                          </a:solidFill>
                          <a:latin typeface="Calibri"/>
                        </a:rPr>
                        <a:t>56.0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555"/>
                          </a:solidFill>
                          <a:latin typeface="Calibri"/>
                        </a:rPr>
                        <a:t>74.6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555"/>
                          </a:solidFill>
                          <a:latin typeface="Calibri"/>
                        </a:rPr>
                        <a:t>83.2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64024" y="2011680"/>
            <a:ext cx="6812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資料集：MuSiQue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 討論與結論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i="1">
                <a:solidFill>
                  <a:srgbClr val="555555"/>
                </a:solidFill>
              </a:rPr>
              <a:t>這個架構的邊界與下一步在哪裡？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局限與未來方向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Oval 3"/>
          <p:cNvSpPr/>
          <p:nvPr/>
        </p:nvSpPr>
        <p:spPr>
          <a:xfrm>
            <a:off x="749808" y="1234439"/>
            <a:ext cx="457200" cy="457200"/>
          </a:xfrm>
          <a:prstGeom prst="ellipse">
            <a:avLst/>
          </a:prstGeom>
          <a:solidFill>
            <a:srgbClr val="005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7" y="1234439"/>
            <a:ext cx="258775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5480"/>
                </a:solidFill>
                <a:latin typeface="Calibri"/>
              </a:rPr>
              <a:t>剪枝機制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01367"/>
            <a:ext cx="3118104" cy="331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實體邊界剪枝門檻為經驗設定，低頻但關鍵的橋樑實體可能被提早剪枝。未來可按語料庫頻率分層分配擴展預算。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05156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Oval 7"/>
          <p:cNvSpPr/>
          <p:nvPr/>
        </p:nvSpPr>
        <p:spPr>
          <a:xfrm>
            <a:off x="4590288" y="1234439"/>
            <a:ext cx="457200" cy="457200"/>
          </a:xfrm>
          <a:prstGeom prst="ellipse">
            <a:avLst/>
          </a:prstGeom>
          <a:solidFill>
            <a:srgbClr val="7CC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4648" y="1234439"/>
            <a:ext cx="258775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CC02A"/>
                </a:solidFill>
                <a:latin typeface="Calibri"/>
              </a:rPr>
              <a:t>實體融合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1801367"/>
            <a:ext cx="3118104" cy="331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目前僅做字串規範化與去重，同義實體可能削弱跨文件連接密度。未來可引入輕量級別名表。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05156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Oval 11"/>
          <p:cNvSpPr/>
          <p:nvPr/>
        </p:nvSpPr>
        <p:spPr>
          <a:xfrm>
            <a:off x="8430768" y="1234439"/>
            <a:ext cx="457200" cy="457200"/>
          </a:xfrm>
          <a:prstGeom prst="ellipse">
            <a:avLst/>
          </a:prstGeom>
          <a:solidFill>
            <a:srgbClr val="63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5128" y="1234439"/>
            <a:ext cx="258775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31B4B"/>
                </a:solidFill>
                <a:latin typeface="Calibri"/>
              </a:rPr>
              <a:t>Agent 記憶的事件級更新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1801367"/>
            <a:ext cx="3118104" cy="331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目前僅支援持續追加；偏好覆蓋或狀態變更需要版本控制。下一步是擴展為支援版本控制的 Agent 記憶底座。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</a:pPr>
            <a:r>
              <a:rPr sz="1650">
                <a:solidFill>
                  <a:srgbClr val="555555"/>
                </a:solidFill>
                <a:latin typeface="Calibri"/>
              </a:rPr>
              <a:t>SQL 劃定候選邊界，事件-實體索引承載完整語義</a:t>
            </a:r>
          </a:p>
          <a:p>
            <a:pPr>
              <a:spcAft>
                <a:spcPts val="1200"/>
              </a:spcAft>
            </a:pPr>
            <a:r>
              <a:rPr sz="1650">
                <a:solidFill>
                  <a:srgbClr val="555555"/>
                </a:solidFill>
                <a:latin typeface="Calibri"/>
              </a:rPr>
              <a:t>動態超邊在查詢時還原局部高階關係</a:t>
            </a:r>
          </a:p>
          <a:p>
            <a:pPr>
              <a:spcAft>
                <a:spcPts val="1200"/>
              </a:spcAft>
            </a:pPr>
            <a:r>
              <a:rPr sz="1650">
                <a:solidFill>
                  <a:srgbClr val="555555"/>
                </a:solidFill>
                <a:latin typeface="Calibri"/>
              </a:rPr>
              <a:t>向量模型與 LLM 僅在最高價值的節點介入</a:t>
            </a:r>
          </a:p>
          <a:p>
            <a:pPr>
              <a:spcAft>
                <a:spcPts val="1200"/>
              </a:spcAft>
            </a:pPr>
            <a:r>
              <a:rPr sz="1650">
                <a:solidFill>
                  <a:srgbClr val="555555"/>
                </a:solidFill>
                <a:latin typeface="Calibri"/>
              </a:rPr>
              <a:t>三個多跳基準展現卓越召回率與工程可行性，已於億級資料規模生產環境部署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" y="4800600"/>
            <a:ext cx="11375136" cy="1234440"/>
          </a:xfrm>
          <a:prstGeom prst="roundRect">
            <a:avLst>
              <a:gd name="adj" fmla="val 8000"/>
            </a:avLst>
          </a:prstGeom>
          <a:solidFill>
            <a:srgbClr val="E2ED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b="1" sz="1400">
                <a:solidFill>
                  <a:srgbClr val="005C1F"/>
                </a:solidFill>
              </a:rPr>
              <a:t>個人看法：</a:t>
            </a:r>
          </a:p>
          <a:p>
            <a:r>
              <a:rPr sz="1400">
                <a:solidFill>
                  <a:srgbClr val="005C1F"/>
                </a:solidFill>
              </a:rPr>
              <a:t>SAG 重新分配了檢索管道中的職責，而非用更強模組取代標準 RAG——這對正在做企業級 RAG／Agent 記憶的團隊有直接參考價值。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討論題（讀書會用）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10360152" cy="14173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1879092"/>
            <a:ext cx="585216" cy="585216"/>
          </a:xfrm>
          <a:prstGeom prst="ellipse">
            <a:avLst/>
          </a:prstGeom>
          <a:solidFill>
            <a:srgbClr val="005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463040"/>
            <a:ext cx="886968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SAG 相較 GraphRAG 省下哪些具體成本？代價是什麼？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154680"/>
            <a:ext cx="10360152" cy="14173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3570732"/>
            <a:ext cx="585216" cy="585216"/>
          </a:xfrm>
          <a:prstGeom prst="ellipse">
            <a:avLst/>
          </a:prstGeom>
          <a:solidFill>
            <a:srgbClr val="7CC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3154680"/>
            <a:ext cx="886968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「查詢時動態超邊」能否推廣到非 QA 場景（如程式碼檢索、企業知識庫）？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846320"/>
            <a:ext cx="10360152" cy="14173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8720" y="5262372"/>
            <a:ext cx="585216" cy="585216"/>
          </a:xfrm>
          <a:prstGeom prst="ellipse">
            <a:avLst/>
          </a:prstGeom>
          <a:solidFill>
            <a:srgbClr val="63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846320"/>
            <a:ext cx="886968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實體融合缺失是否會在真實高噪音語料上放大誤差？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al_next_260319">
  <a:themeElements>
    <a:clrScheme name="3_Office Theme 1">
      <a:dk1>
        <a:srgbClr val="555555"/>
      </a:dk1>
      <a:lt1>
        <a:srgbClr val="FFFFFF"/>
      </a:lt1>
      <a:dk2>
        <a:srgbClr val="7CC02A"/>
      </a:dk2>
      <a:lt2>
        <a:srgbClr val="E2EDC3"/>
      </a:lt2>
      <a:accent1>
        <a:srgbClr val="005480"/>
      </a:accent1>
      <a:accent2>
        <a:srgbClr val="631B4B"/>
      </a:accent2>
      <a:accent3>
        <a:srgbClr val="FFFFFF"/>
      </a:accent3>
      <a:accent4>
        <a:srgbClr val="474747"/>
      </a:accent4>
      <a:accent5>
        <a:srgbClr val="AAB3C0"/>
      </a:accent5>
      <a:accent6>
        <a:srgbClr val="591743"/>
      </a:accent6>
      <a:hlink>
        <a:srgbClr val="005C1F"/>
      </a:hlink>
      <a:folHlink>
        <a:srgbClr val="555555"/>
      </a:folHlink>
    </a:clrScheme>
    <a:fontScheme name="3_Office Theme">
      <a:majorFont>
        <a:latin typeface="Arial"/>
        <a:ea typeface="新細明體"/>
        <a:cs typeface="Calibri"/>
      </a:majorFont>
      <a:minorFont>
        <a:latin typeface="Arial"/>
        <a:ea typeface="標楷體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85AAC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18000" tIns="10800" rIns="18000" bIns="1080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85AAC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18000" tIns="10800" rIns="18000" bIns="1080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3_Office Theme 1">
        <a:dk1>
          <a:srgbClr val="555555"/>
        </a:dk1>
        <a:lt1>
          <a:srgbClr val="FFFFFF"/>
        </a:lt1>
        <a:dk2>
          <a:srgbClr val="7CC02A"/>
        </a:dk2>
        <a:lt2>
          <a:srgbClr val="E2EDC3"/>
        </a:lt2>
        <a:accent1>
          <a:srgbClr val="005480"/>
        </a:accent1>
        <a:accent2>
          <a:srgbClr val="631B4B"/>
        </a:accent2>
        <a:accent3>
          <a:srgbClr val="FFFFFF"/>
        </a:accent3>
        <a:accent4>
          <a:srgbClr val="474747"/>
        </a:accent4>
        <a:accent5>
          <a:srgbClr val="AAB3C0"/>
        </a:accent5>
        <a:accent6>
          <a:srgbClr val="591743"/>
        </a:accent6>
        <a:hlink>
          <a:srgbClr val="005C1F"/>
        </a:hlink>
        <a:folHlink>
          <a:srgbClr val="55555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ompal_next_260319" id="{0DE71D19-7961-4A59-84C1-5C5599520EB6}" vid="{0D82F8B2-5A65-4E7A-8B18-9C5D9458BE7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compal_next_260319</Template>
  <TotalTime>1</TotalTime>
  <Words>0</Words>
  <Application>Microsoft Office PowerPoint</Application>
  <PresentationFormat>寬螢幕</PresentationFormat>
  <Paragraphs>0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3" baseType="lpstr">
      <vt:lpstr>San Francisco Display Light</vt:lpstr>
      <vt:lpstr>微軟正黑體</vt:lpstr>
      <vt:lpstr>Arial</vt:lpstr>
      <vt:lpstr>Calibri</vt:lpstr>
      <vt:lpstr>Calibri Light</vt:lpstr>
      <vt:lpstr>Courier New</vt:lpstr>
      <vt:lpstr>Segoe UI</vt:lpstr>
      <vt:lpstr>Segoe UI Light</vt:lpstr>
      <vt:lpstr>Segoe UI Semibold</vt:lpstr>
      <vt:lpstr>compal_next_260319</vt:lpstr>
      <vt:lpstr>PowerPoint 簡報</vt:lpstr>
      <vt:lpstr>PowerPoint 簡報</vt:lpstr>
      <vt:lpstr>PowerPoint 簡報</vt:lpstr>
    </vt:vector>
  </TitlesOfParts>
  <Company>Compal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Lu. Mage (TPE)</dc:creator>
  <cp:lastModifiedBy>Lu. Mage (TPE)</cp:lastModifiedBy>
  <cp:revision>1</cp:revision>
  <dcterms:created xsi:type="dcterms:W3CDTF">2026-07-15T10:50:14Z</dcterms:created>
  <dcterms:modified xsi:type="dcterms:W3CDTF">2026-07-15T10:51:33Z</dcterms:modified>
</cp:coreProperties>
</file>